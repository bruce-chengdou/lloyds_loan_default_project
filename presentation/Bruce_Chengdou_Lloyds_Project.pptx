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12"/>
  </p:notesMasterIdLst>
  <p:sldIdLst>
    <p:sldId id="298" r:id="rId5"/>
    <p:sldId id="407" r:id="rId6"/>
    <p:sldId id="404" r:id="rId7"/>
    <p:sldId id="410" r:id="rId8"/>
    <p:sldId id="409" r:id="rId9"/>
    <p:sldId id="405" r:id="rId10"/>
    <p:sldId id="408" r:id="rId11"/>
  </p:sldIdLst>
  <p:sldSz cx="12192000" cy="6858000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B67A"/>
    <a:srgbClr val="0A6F52"/>
    <a:srgbClr val="014730"/>
    <a:srgbClr val="00F26F"/>
    <a:srgbClr val="0C6EB8"/>
    <a:srgbClr val="663366"/>
    <a:srgbClr val="6733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040" autoAdjust="0"/>
    <p:restoredTop sz="86401" autoAdjust="0"/>
  </p:normalViewPr>
  <p:slideViewPr>
    <p:cSldViewPr>
      <p:cViewPr varScale="1">
        <p:scale>
          <a:sx n="84" d="100"/>
          <a:sy n="84" d="100"/>
        </p:scale>
        <p:origin x="208" y="71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48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1152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75859625-21C2-4836-B5E6-D703AAB731F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7EA3CC9-57E1-423E-956F-A808ECCA7F7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B8CB62AE-1DFC-4E59-ABD7-2CB01313E56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81" name="Rectangle 5">
            <a:extLst>
              <a:ext uri="{FF2B5EF4-FFF2-40B4-BE49-F238E27FC236}">
                <a16:creationId xmlns:a16="http://schemas.microsoft.com/office/drawing/2014/main" id="{EAB29958-FF11-4F72-BA4D-645AB8F752E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4582" name="Rectangle 6">
            <a:extLst>
              <a:ext uri="{FF2B5EF4-FFF2-40B4-BE49-F238E27FC236}">
                <a16:creationId xmlns:a16="http://schemas.microsoft.com/office/drawing/2014/main" id="{A93A48AA-E1C7-4BE7-ABA7-D838A252B42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24583" name="Rectangle 7">
            <a:extLst>
              <a:ext uri="{FF2B5EF4-FFF2-40B4-BE49-F238E27FC236}">
                <a16:creationId xmlns:a16="http://schemas.microsoft.com/office/drawing/2014/main" id="{A0137AFA-D78D-46FC-B4CA-EE6DDF1DB0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654F8BB0-D0AD-480B-813D-4A0591EBCE9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763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E6C439-5B31-42A4-9D65-F2D199E8886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57178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4F8BB0-D0AD-480B-813D-4A0591EBCE90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64266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4F8BB0-D0AD-480B-813D-4A0591EBCE90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64066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4F8BB0-D0AD-480B-813D-4A0591EBCE90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1231359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dirty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Testing whether borrower characteristics can help identify future defaults</a:t>
            </a:r>
          </a:p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4F8BB0-D0AD-480B-813D-4A0591EBCE90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34570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54F8BB0-D0AD-480B-813D-4A0591EBCE90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8754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3" name="Rectangle 11"/>
          <p:cNvSpPr>
            <a:spLocks noGrp="1" noChangeArrowheads="1"/>
          </p:cNvSpPr>
          <p:nvPr>
            <p:ph type="ctrTitle" sz="quarter"/>
          </p:nvPr>
        </p:nvSpPr>
        <p:spPr>
          <a:xfrm>
            <a:off x="1007533" y="476251"/>
            <a:ext cx="10363200" cy="14700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8204" name="Rectangle 1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102784" y="2420938"/>
            <a:ext cx="10081683" cy="1752600"/>
          </a:xfrm>
        </p:spPr>
        <p:txBody>
          <a:bodyPr/>
          <a:lstStyle>
            <a:lvl1pPr marL="0" indent="0">
              <a:defRPr b="1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4B2223B-CB87-4ADB-9BEE-33AB723A96D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13ECD7B-0B21-4B19-93AE-009EB90BDC2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pic>
        <p:nvPicPr>
          <p:cNvPr id="2" name="Picture 11">
            <a:extLst>
              <a:ext uri="{FF2B5EF4-FFF2-40B4-BE49-F238E27FC236}">
                <a16:creationId xmlns:a16="http://schemas.microsoft.com/office/drawing/2014/main" id="{4FB8E173-48C9-AFE6-E213-8B174C94E8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1384" y="349251"/>
            <a:ext cx="1539307" cy="862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9419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8405F40-9CC2-4879-AC6F-85F089C680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C121E4-0068-4014-88CA-687EF76B7C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A6A3C89-B3A7-490D-A788-E3F26C6E0E8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94E9E7-F2F0-440D-8A18-960D12737EE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221272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8FBC957-4836-446B-8A4C-26BAC272350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6E41C0A-2AC6-4085-A7CE-46DD6D3C25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1F81DD-50A0-4390-9FE1-97AFE5BC3EA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C56941-A2B1-4CEA-9D28-AC47C31C509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40878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2284" y="1989138"/>
            <a:ext cx="508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5484" y="1989138"/>
            <a:ext cx="5080000" cy="38163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217B363-5AAB-4331-8584-D1BBA74B6B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BAD794-7638-470C-9124-4BCBAA71A53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B451F-8912-4666-98EB-34372AA7C5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FA34C8-4740-4E55-BBB4-A280CB0FCE2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97011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6C0D3AC8-D7C9-4B0B-A3C5-2BBC06AE2DB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A641FF9B-FA47-451A-B980-4663AC461D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CA6B3D8-1F6F-438D-AB64-3F0DF8907E5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93DCD2-F410-4286-AFB8-FB9E41D54CA0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51501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5A9C8C9-3020-4672-839B-8A13A80A77C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077EE70F-8A3A-4034-AA21-5156E49819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CCCB228-6615-46DF-B585-22EC0501044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E4F5A7-7416-4058-A73E-937B665D282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330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75F2A68-E35D-4813-AD6C-829483C525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74CA6F3E-224B-410F-837B-C0BDADA2C5D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49CCDB-C52F-4D17-9518-D681E80128B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8C5438-2222-40A3-8DB4-DAF1CB520DD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27525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C44BC8-21EB-4930-B660-1A91477605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6F09C0-087C-4462-97D7-54A96AF3E2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768EAA-82F6-423D-8B91-3788E8A9C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3B62CF-DA0F-4D89-8839-27F89F9AF874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90464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B4AA716-1E1C-4A4F-B843-BFFEB5221C7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D5FF1F5-BB92-4025-80DB-2BF7C7D23E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27E833-BC96-4CB2-BDFD-6CD0BBB25D9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0B8097-2CD7-44E9-AFD7-C4759D282EC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7438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F7DD36-1648-402C-AFAF-208D3B3D73A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F3A837D-B116-4BCC-9C5C-0D9B4AD724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7361079-8915-46B5-A07E-C342990362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E2F5F1-9301-4723-AD2E-4285FF51813F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9272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195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2285" y="609600"/>
            <a:ext cx="7571316" cy="5195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2DA26147-F52C-4733-85BD-5843BFE5C5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4725BCD-FC19-40C4-A3A6-AE792EA5324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421CEA6-1D5C-4E3F-9306-26FB31F0FC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D79D62-7007-418F-8BA0-0CA6697BAA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307377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437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>
            <a:extLst>
              <a:ext uri="{FF2B5EF4-FFF2-40B4-BE49-F238E27FC236}">
                <a16:creationId xmlns:a16="http://schemas.microsoft.com/office/drawing/2014/main" id="{12C10B0A-2230-4B0E-A2E6-069C22F77ED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" y="-27384"/>
            <a:ext cx="12187767" cy="6873875"/>
          </a:xfrm>
          <a:prstGeom prst="rect">
            <a:avLst/>
          </a:prstGeom>
          <a:solidFill>
            <a:srgbClr val="014730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r>
              <a:rPr lang="en-GB" altLang="en-US" sz="2400">
                <a:solidFill>
                  <a:srgbClr val="663366"/>
                </a:solidFill>
              </a:rPr>
              <a:t>∂</a:t>
            </a:r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61703047-7427-47E7-8DB9-A010302D92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933" y="83394"/>
            <a:ext cx="11899900" cy="66579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sz="2400">
              <a:solidFill>
                <a:srgbClr val="663366"/>
              </a:solidFill>
            </a:endParaRPr>
          </a:p>
        </p:txBody>
      </p:sp>
      <p:sp>
        <p:nvSpPr>
          <p:cNvPr id="1028" name="Rectangle 2">
            <a:extLst>
              <a:ext uri="{FF2B5EF4-FFF2-40B4-BE49-F238E27FC236}">
                <a16:creationId xmlns:a16="http://schemas.microsoft.com/office/drawing/2014/main" id="{239DCEE3-EC9D-4BE3-B6B6-F26F7E0993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Heading style</a:t>
            </a:r>
          </a:p>
        </p:txBody>
      </p:sp>
      <p:sp>
        <p:nvSpPr>
          <p:cNvPr id="1029" name="Rectangle 3">
            <a:extLst>
              <a:ext uri="{FF2B5EF4-FFF2-40B4-BE49-F238E27FC236}">
                <a16:creationId xmlns:a16="http://schemas.microsoft.com/office/drawing/2014/main" id="{4E081072-E4E5-4CAB-A4C4-ABC292D3A7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912284" y="1989138"/>
            <a:ext cx="10363200" cy="381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E13EF40F-9E17-40D7-9074-04CE7A1E45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5A02469-71FF-46E1-B911-23A22A60112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893B0E6-A4F0-4247-BE97-863DDBB60A8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ED4A36E-4FB2-449C-8DC8-B369A5050C4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63A95575-D225-4157-B657-DC5C17A64D6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54100" y="611188"/>
            <a:ext cx="1069975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defRPr/>
            </a:pPr>
            <a:endParaRPr lang="en-US" altLang="en-US" sz="4400">
              <a:solidFill>
                <a:schemeClr val="bg1"/>
              </a:solidFill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CACCD6C4-7236-41BB-B236-B7F326A7299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54100" y="1798638"/>
            <a:ext cx="10699751" cy="381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eaLnBrk="1" hangingPunct="1">
              <a:spcBef>
                <a:spcPct val="20000"/>
              </a:spcBef>
              <a:defRPr/>
            </a:pPr>
            <a:endParaRPr lang="en-US" altLang="en-US" sz="1800" b="1">
              <a:solidFill>
                <a:schemeClr val="bg1"/>
              </a:solidFill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8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Franklin Gothic Medium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Franklin Gothic Medium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Franklin Gothic Medium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Franklin Gothic Medium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663366"/>
          </a:solidFill>
          <a:latin typeface="Times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1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2E97FB1-3A71-0F16-F525-97B70E4C9AC3}"/>
              </a:ext>
            </a:extLst>
          </p:cNvPr>
          <p:cNvSpPr txBox="1">
            <a:spLocks/>
          </p:cNvSpPr>
          <p:nvPr/>
        </p:nvSpPr>
        <p:spPr>
          <a:xfrm>
            <a:off x="1707517" y="260648"/>
            <a:ext cx="8776965" cy="93754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20000"/>
              </a:lnSpc>
            </a:pPr>
            <a:r>
              <a:rPr kumimoji="1" lang="en-US" altLang="zh-CN" sz="48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Lloyds</a:t>
            </a:r>
            <a:r>
              <a:rPr kumimoji="1" lang="zh-CN" altLang="en-US" sz="48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  <a:r>
              <a:rPr kumimoji="1" lang="en-US" altLang="zh-CN" sz="48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Project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502B47-70DA-BC07-8947-1CC6482D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229" y="4705382"/>
            <a:ext cx="3319542" cy="1858943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FEE80C50-4491-F741-93D4-18752A89AF33}"/>
              </a:ext>
            </a:extLst>
          </p:cNvPr>
          <p:cNvSpPr txBox="1"/>
          <p:nvPr/>
        </p:nvSpPr>
        <p:spPr>
          <a:xfrm>
            <a:off x="9264352" y="5746256"/>
            <a:ext cx="28009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  <a:p>
            <a:r>
              <a:rPr kumimoji="1" lang="en-GB" altLang="zh-CN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Digdata</a:t>
            </a:r>
            <a:endParaRPr kumimoji="1" lang="en-US" altLang="zh-CN" b="1" i="1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7C4B3AC-49A3-C14C-8540-1BE360E8F3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223" y="1610674"/>
            <a:ext cx="4128070" cy="309470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353949-2A79-B049-811A-B4E16A986A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7887" y="1399136"/>
            <a:ext cx="5738003" cy="3224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6754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82E97FB1-3A71-0F16-F525-97B70E4C9AC3}"/>
              </a:ext>
            </a:extLst>
          </p:cNvPr>
          <p:cNvSpPr txBox="1">
            <a:spLocks/>
          </p:cNvSpPr>
          <p:nvPr/>
        </p:nvSpPr>
        <p:spPr>
          <a:xfrm>
            <a:off x="481169" y="424960"/>
            <a:ext cx="11229661" cy="3528392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Defaulted loans are part of lending, but they are also where banks lose money.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GB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Some customers repay without problems, while others eventually fall behind and the loan has to be written off.</a:t>
            </a:r>
            <a:r>
              <a:rPr kumimoji="1" lang="zh-CN" alt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kumimoji="1"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en-GB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I wanted to understand what makes those two groups different.</a:t>
            </a:r>
            <a:endParaRPr kumimoji="1" lang="en-US" altLang="zh-CN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20000"/>
              </a:lnSpc>
              <a:buFont typeface="Wingdings" pitchFamily="2" charset="2"/>
              <a:buChar char="ü"/>
            </a:pPr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So I looked at historical loan data from 18,324 previous customers, checking things like loan conditions, borrower profiles and credit history, just to answer one question: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F502B47-70DA-BC07-8947-1CC6482D95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8967" y="5013685"/>
            <a:ext cx="3024336" cy="1804576"/>
          </a:xfrm>
          <a:prstGeom prst="rect">
            <a:avLst/>
          </a:prstGeom>
        </p:spPr>
      </p:pic>
      <p:sp>
        <p:nvSpPr>
          <p:cNvPr id="4" name="Rectangle 7">
            <a:extLst>
              <a:ext uri="{FF2B5EF4-FFF2-40B4-BE49-F238E27FC236}">
                <a16:creationId xmlns:a16="http://schemas.microsoft.com/office/drawing/2014/main" id="{62135530-610E-1F42-86EE-C5F02EFB1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336" y="4293096"/>
            <a:ext cx="11953328" cy="721372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928C5D7-03AA-464F-8996-F4ED2661006D}"/>
              </a:ext>
            </a:extLst>
          </p:cNvPr>
          <p:cNvSpPr txBox="1"/>
          <p:nvPr/>
        </p:nvSpPr>
        <p:spPr>
          <a:xfrm>
            <a:off x="1559496" y="4306796"/>
            <a:ext cx="98285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we identify higher risk applicants earlier?</a:t>
            </a:r>
          </a:p>
          <a:p>
            <a:endParaRPr lang="en-GB" sz="3600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5A1CF32-4618-3E43-90FF-1797AB9CA7BF}"/>
              </a:ext>
            </a:extLst>
          </p:cNvPr>
          <p:cNvSpPr/>
          <p:nvPr/>
        </p:nvSpPr>
        <p:spPr>
          <a:xfrm>
            <a:off x="9735124" y="6309320"/>
            <a:ext cx="2364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sz="2000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3854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7">
            <a:extLst>
              <a:ext uri="{FF2B5EF4-FFF2-40B4-BE49-F238E27FC236}">
                <a16:creationId xmlns:a16="http://schemas.microsoft.com/office/drawing/2014/main" id="{4A469F4E-7C74-F343-8374-709582A4E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4" y="84784"/>
            <a:ext cx="8928992" cy="721372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BF775-5EB3-E1C1-695A-E8B8C6E2A16E}"/>
              </a:ext>
            </a:extLst>
          </p:cNvPr>
          <p:cNvSpPr txBox="1">
            <a:spLocks/>
          </p:cNvSpPr>
          <p:nvPr/>
        </p:nvSpPr>
        <p:spPr bwMode="auto">
          <a:xfrm>
            <a:off x="4007768" y="227327"/>
            <a:ext cx="4176464" cy="43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9pPr>
          </a:lstStyle>
          <a:p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</a:rPr>
              <a:t>Who Are the Typical Borrowers?</a:t>
            </a:r>
            <a:endParaRPr lang="en-GB" altLang="en-US" sz="4000" b="1" kern="0" dirty="0">
              <a:solidFill>
                <a:schemeClr val="bg1"/>
              </a:solidFill>
              <a:latin typeface="Franklin Gothic Book" panose="020B050302010202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39661-2560-076E-12FF-428013667804}"/>
              </a:ext>
            </a:extLst>
          </p:cNvPr>
          <p:cNvSpPr txBox="1"/>
          <p:nvPr/>
        </p:nvSpPr>
        <p:spPr>
          <a:xfrm>
            <a:off x="1343472" y="4797152"/>
            <a:ext cx="5026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Most borrowers fall within moderate income ranges, with only a small number of very high</a:t>
            </a:r>
            <a:r>
              <a:rPr lang="zh-CN" altLang="en-US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income outliers.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3AEDA0-80B3-BE4B-B984-574B8BB07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83" y="1052736"/>
            <a:ext cx="5141466" cy="3657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A6CFCA-8ABC-9B4D-AB01-26B9AAB4C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093" y="980728"/>
            <a:ext cx="5284646" cy="3657600"/>
          </a:xfrm>
          <a:prstGeom prst="rect">
            <a:avLst/>
          </a:prstGeom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4968BDDF-6626-F94C-A2EB-352C4C5A054B}"/>
              </a:ext>
            </a:extLst>
          </p:cNvPr>
          <p:cNvSpPr txBox="1"/>
          <p:nvPr/>
        </p:nvSpPr>
        <p:spPr>
          <a:xfrm>
            <a:off x="6593271" y="4881934"/>
            <a:ext cx="50267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Average account balances suggesting that most customers maintain relatively modest balances.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38EC10-D33F-8E45-AA48-F0EEDEBC9FCC}"/>
              </a:ext>
            </a:extLst>
          </p:cNvPr>
          <p:cNvSpPr/>
          <p:nvPr/>
        </p:nvSpPr>
        <p:spPr>
          <a:xfrm>
            <a:off x="9735124" y="6309320"/>
            <a:ext cx="2364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sz="2000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8F75A7-D1C3-4D43-9630-AFC01BA457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5733256"/>
            <a:ext cx="1300247" cy="832158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8CEFF008-8543-7248-B910-317068E2A56C}"/>
              </a:ext>
            </a:extLst>
          </p:cNvPr>
          <p:cNvSpPr txBox="1"/>
          <p:nvPr/>
        </p:nvSpPr>
        <p:spPr>
          <a:xfrm>
            <a:off x="1655912" y="5786100"/>
            <a:ext cx="80792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Overall, most borrowers look like typical retail banking customers rather than high-income clients. This means their repayment capacity may be more sensitive to loan conditions.</a:t>
            </a:r>
          </a:p>
        </p:txBody>
      </p:sp>
    </p:spTree>
    <p:extLst>
      <p:ext uri="{BB962C8B-B14F-4D97-AF65-F5344CB8AC3E}">
        <p14:creationId xmlns:p14="http://schemas.microsoft.com/office/powerpoint/2010/main" val="4102018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B13EE38-5FAE-4455-7417-DB181B81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4" y="84784"/>
            <a:ext cx="8928992" cy="721372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CBF775-5EB3-E1C1-695A-E8B8C6E2A16E}"/>
              </a:ext>
            </a:extLst>
          </p:cNvPr>
          <p:cNvSpPr txBox="1">
            <a:spLocks/>
          </p:cNvSpPr>
          <p:nvPr/>
        </p:nvSpPr>
        <p:spPr bwMode="auto">
          <a:xfrm>
            <a:off x="3864919" y="173394"/>
            <a:ext cx="4536504" cy="43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9pPr>
          </a:lstStyle>
          <a:p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</a:rPr>
              <a:t>How Are These Loans Structured?</a:t>
            </a:r>
            <a:endParaRPr lang="en-GB" altLang="en-US" sz="4000" b="1" kern="0" dirty="0">
              <a:solidFill>
                <a:schemeClr val="bg1"/>
              </a:solidFill>
              <a:latin typeface="Franklin Gothic Book" panose="020B050302010202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39661-2560-076E-12FF-428013667804}"/>
              </a:ext>
            </a:extLst>
          </p:cNvPr>
          <p:cNvSpPr txBox="1"/>
          <p:nvPr/>
        </p:nvSpPr>
        <p:spPr>
          <a:xfrm>
            <a:off x="1343472" y="4593902"/>
            <a:ext cx="50267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Interest rates are also concentrated within a relatively consistent range, which suggests a fairly standard pricing structure across the portfolio.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23AEDA0-80B3-BE4B-B984-574B8BB070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083" y="993502"/>
            <a:ext cx="5141466" cy="365759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74A6CFCA-8ABC-9B4D-AB01-26B9AAB4C5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6683" y="921494"/>
            <a:ext cx="5141466" cy="3657600"/>
          </a:xfrm>
          <a:prstGeom prst="rect">
            <a:avLst/>
          </a:prstGeom>
        </p:spPr>
      </p:pic>
      <p:sp>
        <p:nvSpPr>
          <p:cNvPr id="13" name="TextBox 2">
            <a:extLst>
              <a:ext uri="{FF2B5EF4-FFF2-40B4-BE49-F238E27FC236}">
                <a16:creationId xmlns:a16="http://schemas.microsoft.com/office/drawing/2014/main" id="{4968BDDF-6626-F94C-A2EB-352C4C5A054B}"/>
              </a:ext>
            </a:extLst>
          </p:cNvPr>
          <p:cNvSpPr txBox="1"/>
          <p:nvPr/>
        </p:nvSpPr>
        <p:spPr>
          <a:xfrm>
            <a:off x="6629374" y="4535197"/>
            <a:ext cx="519136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Loan amounts cluster around several common borrowing levels, suggesting that customers tend to take out loans in a few standard size bands.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438EC10-D33F-8E45-AA48-F0EEDEBC9FCC}"/>
              </a:ext>
            </a:extLst>
          </p:cNvPr>
          <p:cNvSpPr/>
          <p:nvPr/>
        </p:nvSpPr>
        <p:spPr>
          <a:xfrm>
            <a:off x="9735124" y="6309320"/>
            <a:ext cx="2364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sz="2000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588F75A7-D1C3-4D43-9630-AFC01BA457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5733256"/>
            <a:ext cx="1300247" cy="832158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8CEFF008-8543-7248-B910-317068E2A56C}"/>
              </a:ext>
            </a:extLst>
          </p:cNvPr>
          <p:cNvSpPr txBox="1"/>
          <p:nvPr/>
        </p:nvSpPr>
        <p:spPr>
          <a:xfrm>
            <a:off x="1775520" y="5986154"/>
            <a:ext cx="72728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This looks more like a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standardised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retail lending product</a:t>
            </a:r>
            <a:r>
              <a:rPr lang="en-GB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than a highly </a:t>
            </a:r>
            <a:r>
              <a:rPr lang="en-US" altLang="zh-CN" sz="1800" dirty="0" err="1">
                <a:latin typeface="Arial" panose="020B0604020202020204" pitchFamily="34" charset="0"/>
                <a:cs typeface="Arial" panose="020B0604020202020204" pitchFamily="34" charset="0"/>
              </a:rPr>
              <a:t>customised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loan book.</a:t>
            </a:r>
          </a:p>
        </p:txBody>
      </p:sp>
    </p:spTree>
    <p:extLst>
      <p:ext uri="{BB962C8B-B14F-4D97-AF65-F5344CB8AC3E}">
        <p14:creationId xmlns:p14="http://schemas.microsoft.com/office/powerpoint/2010/main" val="27545260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9B13EE38-5FAE-4455-7417-DB181B814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3" y="93290"/>
            <a:ext cx="8928992" cy="721372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C39661-2560-076E-12FF-428013667804}"/>
              </a:ext>
            </a:extLst>
          </p:cNvPr>
          <p:cNvSpPr txBox="1"/>
          <p:nvPr/>
        </p:nvSpPr>
        <p:spPr>
          <a:xfrm>
            <a:off x="7522360" y="1052736"/>
            <a:ext cx="455030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Defaults appear more frequently among borrowers who face higher borrowing costs, longer loan terms, and higher monthly instalments.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Housing status also stands out: borrowers who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rent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 rather than own their homes appear more often among defaulted loans.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Several loan purposes, including </a:t>
            </a:r>
            <a:r>
              <a:rPr lang="en-US" altLang="zh-CN" sz="1800" b="1" dirty="0">
                <a:latin typeface="Arial" panose="020B0604020202020204" pitchFamily="34" charset="0"/>
                <a:cs typeface="Arial" panose="020B0604020202020204" pitchFamily="34" charset="0"/>
              </a:rPr>
              <a:t>education, small business financing and debt consolidation</a:t>
            </a:r>
            <a:r>
              <a:rPr lang="en-US" altLang="zh-CN" sz="1800" dirty="0">
                <a:latin typeface="Arial" panose="020B0604020202020204" pitchFamily="34" charset="0"/>
                <a:cs typeface="Arial" panose="020B0604020202020204" pitchFamily="34" charset="0"/>
              </a:rPr>
              <a:t>, also show higher default association.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A10DF4A-7092-FC40-B6B1-DBC27EA28E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1065553"/>
            <a:ext cx="7263111" cy="447663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728A3D5B-05B4-BC47-8393-045742747E5C}"/>
              </a:ext>
            </a:extLst>
          </p:cNvPr>
          <p:cNvSpPr txBox="1">
            <a:spLocks/>
          </p:cNvSpPr>
          <p:nvPr/>
        </p:nvSpPr>
        <p:spPr bwMode="auto">
          <a:xfrm>
            <a:off x="2068197" y="188640"/>
            <a:ext cx="8055605" cy="43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</a:rPr>
              <a:t>What Higher Risk Borrowers Tend to Look Like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？</a:t>
            </a:r>
            <a:endParaRPr lang="en-GB" altLang="en-US" sz="4000" b="1" kern="0" dirty="0">
              <a:solidFill>
                <a:schemeClr val="bg1"/>
              </a:solidFill>
              <a:latin typeface="Franklin Gothic Book" panose="020B050302010202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F0959CF-AEB4-F34B-9AC2-EDE7AEDDF331}"/>
              </a:ext>
            </a:extLst>
          </p:cNvPr>
          <p:cNvSpPr/>
          <p:nvPr/>
        </p:nvSpPr>
        <p:spPr>
          <a:xfrm>
            <a:off x="9735124" y="6309320"/>
            <a:ext cx="2364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sz="2000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F6AFC51-4FAF-D944-BFEF-902F08E748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5733256"/>
            <a:ext cx="1300247" cy="832158"/>
          </a:xfrm>
          <a:prstGeom prst="rect">
            <a:avLst/>
          </a:prstGeom>
        </p:spPr>
      </p:pic>
      <p:sp>
        <p:nvSpPr>
          <p:cNvPr id="11" name="TextBox 2">
            <a:extLst>
              <a:ext uri="{FF2B5EF4-FFF2-40B4-BE49-F238E27FC236}">
                <a16:creationId xmlns:a16="http://schemas.microsoft.com/office/drawing/2014/main" id="{B078DBE0-9461-424F-8435-0FBFBF554292}"/>
              </a:ext>
            </a:extLst>
          </p:cNvPr>
          <p:cNvSpPr txBox="1"/>
          <p:nvPr/>
        </p:nvSpPr>
        <p:spPr>
          <a:xfrm>
            <a:off x="2207568" y="6018336"/>
            <a:ext cx="73115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b="1" dirty="0">
                <a:solidFill>
                  <a:srgbClr val="0A6F5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results suggest that loan structure and borrower stability are key drivers of default risk.</a:t>
            </a:r>
          </a:p>
        </p:txBody>
      </p:sp>
    </p:spTree>
    <p:extLst>
      <p:ext uri="{BB962C8B-B14F-4D97-AF65-F5344CB8AC3E}">
        <p14:creationId xmlns:p14="http://schemas.microsoft.com/office/powerpoint/2010/main" val="22227788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7">
            <a:extLst>
              <a:ext uri="{FF2B5EF4-FFF2-40B4-BE49-F238E27FC236}">
                <a16:creationId xmlns:a16="http://schemas.microsoft.com/office/drawing/2014/main" id="{663C1038-58DF-0143-99C5-1E3A3E76AC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3" y="93290"/>
            <a:ext cx="8928992" cy="721372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773A886-6F4C-1749-A305-31FF5B11135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496" y="979255"/>
            <a:ext cx="5442267" cy="3972149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9DDDFF1-70E7-5C43-BE3E-8E7100F0EDC9}"/>
              </a:ext>
            </a:extLst>
          </p:cNvPr>
          <p:cNvSpPr txBox="1">
            <a:spLocks/>
          </p:cNvSpPr>
          <p:nvPr/>
        </p:nvSpPr>
        <p:spPr bwMode="auto">
          <a:xfrm>
            <a:off x="2068196" y="159923"/>
            <a:ext cx="8055605" cy="43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</a:rPr>
              <a:t>Can Default Risk Be Predicted?</a:t>
            </a:r>
            <a:endParaRPr lang="en-GB" altLang="en-US" sz="4000" b="1" kern="0" dirty="0">
              <a:solidFill>
                <a:schemeClr val="bg1"/>
              </a:solidFill>
              <a:latin typeface="Franklin Gothic Book" panose="020B050302010202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Box 2">
            <a:extLst>
              <a:ext uri="{FF2B5EF4-FFF2-40B4-BE49-F238E27FC236}">
                <a16:creationId xmlns:a16="http://schemas.microsoft.com/office/drawing/2014/main" id="{00989B84-4207-DC4A-BEF3-45FC4395A47E}"/>
              </a:ext>
            </a:extLst>
          </p:cNvPr>
          <p:cNvSpPr txBox="1"/>
          <p:nvPr/>
        </p:nvSpPr>
        <p:spPr>
          <a:xfrm>
            <a:off x="7176120" y="1629066"/>
            <a:ext cx="468232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approach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 logistic regression model was used to estimate the probability of loan default.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Borrower characteristics, loan terms and credit indicators were used as inputs.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1CBD42-4346-F243-A78E-6B6D84146891}"/>
              </a:ext>
            </a:extLst>
          </p:cNvPr>
          <p:cNvSpPr/>
          <p:nvPr/>
        </p:nvSpPr>
        <p:spPr>
          <a:xfrm>
            <a:off x="9735124" y="6309320"/>
            <a:ext cx="2364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sz="2000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5E296B2-0021-2F47-88DC-810DF652323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5733256"/>
            <a:ext cx="1300247" cy="832158"/>
          </a:xfrm>
          <a:prstGeom prst="rect">
            <a:avLst/>
          </a:prstGeom>
        </p:spPr>
      </p:pic>
      <p:sp>
        <p:nvSpPr>
          <p:cNvPr id="15" name="TextBox 2">
            <a:extLst>
              <a:ext uri="{FF2B5EF4-FFF2-40B4-BE49-F238E27FC236}">
                <a16:creationId xmlns:a16="http://schemas.microsoft.com/office/drawing/2014/main" id="{8D723358-34BF-7445-AF12-F93FD57B0EC3}"/>
              </a:ext>
            </a:extLst>
          </p:cNvPr>
          <p:cNvSpPr txBox="1"/>
          <p:nvPr/>
        </p:nvSpPr>
        <p:spPr>
          <a:xfrm>
            <a:off x="1919536" y="5385991"/>
            <a:ext cx="96020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Arial" panose="020B0604020202020204" pitchFamily="34" charset="0"/>
                <a:cs typeface="Arial" panose="020B0604020202020204" pitchFamily="34" charset="0"/>
              </a:rPr>
              <a:t>Model performance</a:t>
            </a:r>
            <a:endParaRPr lang="en-US" altLang="zh-CN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An ROC-AUC of around 0.69 suggests the model is not strong enough for fully automated decisions, but it is capable of highlighting higher risk cases.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885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6BB076FB-8481-2E42-B00E-BC44E91047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49" y="5733256"/>
            <a:ext cx="1300247" cy="832158"/>
          </a:xfrm>
          <a:prstGeom prst="rect">
            <a:avLst/>
          </a:prstGeom>
        </p:spPr>
      </p:pic>
      <p:sp>
        <p:nvSpPr>
          <p:cNvPr id="15" name="Rectangle 7">
            <a:extLst>
              <a:ext uri="{FF2B5EF4-FFF2-40B4-BE49-F238E27FC236}">
                <a16:creationId xmlns:a16="http://schemas.microsoft.com/office/drawing/2014/main" id="{7F7A313F-EF15-6146-8F4A-E28C35F6D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31503" y="93290"/>
            <a:ext cx="8928992" cy="721372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2416ADE6-9D4C-E844-84D2-B202A3AEC1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0772" y="5756194"/>
            <a:ext cx="8175628" cy="985174"/>
          </a:xfrm>
          <a:prstGeom prst="rect">
            <a:avLst/>
          </a:prstGeom>
          <a:solidFill>
            <a:srgbClr val="13B67A"/>
          </a:solidFill>
          <a:ln>
            <a:noFill/>
          </a:ln>
          <a:ex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pitchFamily="18" charset="0"/>
              </a:defRPr>
            </a:lvl9pPr>
          </a:lstStyle>
          <a:p>
            <a:pPr algn="ctr">
              <a:defRPr/>
            </a:pPr>
            <a:endParaRPr lang="en-US" altLang="en-US" dirty="0">
              <a:solidFill>
                <a:srgbClr val="663366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9DDDFF1-70E7-5C43-BE3E-8E7100F0EDC9}"/>
              </a:ext>
            </a:extLst>
          </p:cNvPr>
          <p:cNvSpPr txBox="1">
            <a:spLocks/>
          </p:cNvSpPr>
          <p:nvPr/>
        </p:nvSpPr>
        <p:spPr bwMode="auto">
          <a:xfrm>
            <a:off x="2068196" y="171375"/>
            <a:ext cx="8055605" cy="436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Franklin Gothic Medium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rgbClr val="663366"/>
                </a:solidFill>
                <a:latin typeface="Times" pitchFamily="18" charset="0"/>
              </a:defRPr>
            </a:lvl9pPr>
          </a:lstStyle>
          <a:p>
            <a:pPr algn="ctr"/>
            <a:r>
              <a:rPr lang="en-GB" sz="2000" b="1" dirty="0">
                <a:solidFill>
                  <a:schemeClr val="bg1"/>
                </a:solidFill>
                <a:latin typeface="Arial" panose="020B0604020202020204" pitchFamily="34" charset="0"/>
              </a:rPr>
              <a:t>What Lloyds Can Actually Do</a:t>
            </a:r>
            <a:r>
              <a:rPr lang="zh-CN" altLang="en-US" sz="2000" b="1" dirty="0">
                <a:solidFill>
                  <a:schemeClr val="bg1"/>
                </a:solidFill>
                <a:latin typeface="Arial" panose="020B0604020202020204" pitchFamily="34" charset="0"/>
              </a:rPr>
              <a:t>？</a:t>
            </a:r>
            <a:endParaRPr lang="en-GB" altLang="en-US" sz="4000" b="1" kern="0" dirty="0">
              <a:solidFill>
                <a:schemeClr val="bg1"/>
              </a:solidFill>
              <a:latin typeface="Franklin Gothic Book" panose="020B050302010202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1CBD42-4346-F243-A78E-6B6D84146891}"/>
              </a:ext>
            </a:extLst>
          </p:cNvPr>
          <p:cNvSpPr/>
          <p:nvPr/>
        </p:nvSpPr>
        <p:spPr>
          <a:xfrm>
            <a:off x="9735124" y="6309320"/>
            <a:ext cx="23640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Bruce </a:t>
            </a:r>
            <a:r>
              <a:rPr kumimoji="1" lang="en-US" altLang="zh-CN" sz="2000" b="1" i="1" dirty="0" err="1">
                <a:latin typeface="Calibri Light" panose="020F0302020204030204" pitchFamily="34" charset="0"/>
                <a:cs typeface="Calibri Light" panose="020F0302020204030204" pitchFamily="34" charset="0"/>
              </a:rPr>
              <a:t>Chengdou</a:t>
            </a:r>
            <a:r>
              <a:rPr kumimoji="1" lang="en-US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Wei</a:t>
            </a:r>
            <a:r>
              <a:rPr kumimoji="1" lang="en-GB" altLang="zh-CN" sz="2000" b="1" i="1" dirty="0">
                <a:latin typeface="Calibri Light" panose="020F0302020204030204" pitchFamily="34" charset="0"/>
                <a:cs typeface="Calibri Light" panose="020F0302020204030204" pitchFamily="34" charset="0"/>
              </a:rPr>
              <a:t> 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B4C247B0-A9BA-6949-B6CB-BD30B428AE8F}"/>
              </a:ext>
            </a:extLst>
          </p:cNvPr>
          <p:cNvSpPr txBox="1">
            <a:spLocks/>
          </p:cNvSpPr>
          <p:nvPr/>
        </p:nvSpPr>
        <p:spPr>
          <a:xfrm>
            <a:off x="479374" y="136174"/>
            <a:ext cx="11233248" cy="236480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1. Pay closer attention to borrowing burden.</a:t>
            </a:r>
          </a:p>
          <a:p>
            <a:pPr>
              <a:lnSpc>
                <a:spcPct val="120000"/>
              </a:lnSpc>
            </a:pPr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Charged-off loans tend to carry </a:t>
            </a:r>
            <a:r>
              <a:rPr kumimoji="1"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higher interest rates </a:t>
            </a:r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(16.1% vs 13.2%),</a:t>
            </a:r>
            <a:r>
              <a:rPr kumimoji="1" lang="zh-CN" altLang="en-US" sz="2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with </a:t>
            </a:r>
            <a:r>
              <a:rPr kumimoji="1"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larger loan amounts</a:t>
            </a:r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, and </a:t>
            </a:r>
            <a:r>
              <a:rPr kumimoji="1" lang="en-US" altLang="zh-CN" sz="2200" b="1" dirty="0">
                <a:latin typeface="Arial" panose="020B0604020202020204" pitchFamily="34" charset="0"/>
                <a:cs typeface="Arial" panose="020B0604020202020204" pitchFamily="34" charset="0"/>
              </a:rPr>
              <a:t>higher monthly instalments</a:t>
            </a:r>
            <a:r>
              <a:rPr kumimoji="1" lang="en-US" altLang="zh-CN" sz="2200" dirty="0">
                <a:latin typeface="Arial" panose="020B0604020202020204" pitchFamily="34" charset="0"/>
                <a:cs typeface="Arial" panose="020B0604020202020204" pitchFamily="34" charset="0"/>
              </a:rPr>
              <a:t>. Applications combining these conditions may require stricter affordability checks before approval.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926E619-5BE0-034C-B12A-3F284FCF942F}"/>
              </a:ext>
            </a:extLst>
          </p:cNvPr>
          <p:cNvSpPr txBox="1"/>
          <p:nvPr/>
        </p:nvSpPr>
        <p:spPr>
          <a:xfrm>
            <a:off x="1598220" y="5867202"/>
            <a:ext cx="8498566" cy="7631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9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 borrowers in this dataset tend to carry slightly larger, more expensive loans, while showing weaker financial stability indicators.</a:t>
            </a:r>
            <a:endParaRPr lang="en-GB" sz="1900" b="1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1AF833C-1E27-2C45-A2F7-E371ADFF4AC7}"/>
              </a:ext>
            </a:extLst>
          </p:cNvPr>
          <p:cNvSpPr txBox="1"/>
          <p:nvPr/>
        </p:nvSpPr>
        <p:spPr>
          <a:xfrm>
            <a:off x="479374" y="2495556"/>
            <a:ext cx="1065718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2. Watch for Borrower stability signals. Defaulted borrowers tend to show: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lower annual income (£73k vs £82k),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weaker account balances,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higher credit utilisation and more recent credit inquiries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These factors highlight applicants whose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repayment capacity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 may be more fragile.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CED4550-DB2A-5A47-85AD-69481E6E8FF5}"/>
              </a:ext>
            </a:extLst>
          </p:cNvPr>
          <p:cNvSpPr txBox="1"/>
          <p:nvPr/>
        </p:nvSpPr>
        <p:spPr>
          <a:xfrm>
            <a:off x="479374" y="4275237"/>
            <a:ext cx="1108923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3. Use predictive scoring to support early screening.</a:t>
            </a:r>
          </a:p>
          <a:p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The logistic model achieved ROC-AUC 0.69. Lower thresholds can capture most defaults (recall 95%), but at the cost of many false positives, suggesting this model is best used for </a:t>
            </a:r>
            <a:r>
              <a:rPr lang="en-GB" sz="2200" b="1" dirty="0">
                <a:latin typeface="Arial" panose="020B0604020202020204" pitchFamily="34" charset="0"/>
                <a:cs typeface="Arial" panose="020B0604020202020204" pitchFamily="34" charset="0"/>
              </a:rPr>
              <a:t>early screening </a:t>
            </a:r>
            <a:r>
              <a:rPr lang="en-GB" sz="2200" dirty="0">
                <a:latin typeface="Arial" panose="020B0604020202020204" pitchFamily="34" charset="0"/>
                <a:cs typeface="Arial" panose="020B0604020202020204" pitchFamily="34" charset="0"/>
              </a:rPr>
              <a:t>rather than automated approval.</a:t>
            </a:r>
          </a:p>
        </p:txBody>
      </p:sp>
    </p:spTree>
    <p:extLst>
      <p:ext uri="{BB962C8B-B14F-4D97-AF65-F5344CB8AC3E}">
        <p14:creationId xmlns:p14="http://schemas.microsoft.com/office/powerpoint/2010/main" val="1455063107"/>
      </p:ext>
    </p:extLst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Trek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Franklin Gothic Book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18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34fee40-c2bd-4ad8-886f-a4bb98bf28cf">
      <Terms xmlns="http://schemas.microsoft.com/office/infopath/2007/PartnerControls"/>
    </lcf76f155ced4ddcb4097134ff3c332f>
    <TaxCatchAll xmlns="3bf6d2de-cfb7-466c-825b-051a8e3c8b7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DD25F28A7B8C5478463198C953CEF3D" ma:contentTypeVersion="12" ma:contentTypeDescription="Create a new document." ma:contentTypeScope="" ma:versionID="61533f289dcb3f773f7e985a36768dbb">
  <xsd:schema xmlns:xsd="http://www.w3.org/2001/XMLSchema" xmlns:xs="http://www.w3.org/2001/XMLSchema" xmlns:p="http://schemas.microsoft.com/office/2006/metadata/properties" xmlns:ns2="734fee40-c2bd-4ad8-886f-a4bb98bf28cf" xmlns:ns3="3bf6d2de-cfb7-466c-825b-051a8e3c8b7d" targetNamespace="http://schemas.microsoft.com/office/2006/metadata/properties" ma:root="true" ma:fieldsID="a1cb32302ee07bcf197be756305fae89" ns2:_="" ns3:_="">
    <xsd:import namespace="734fee40-c2bd-4ad8-886f-a4bb98bf28cf"/>
    <xsd:import namespace="3bf6d2de-cfb7-466c-825b-051a8e3c8b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4fee40-c2bd-4ad8-886f-a4bb98bf28c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f6d2de-cfb7-466c-825b-051a8e3c8b7d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0da350af-785f-4171-8bac-44b7fbc094e0}" ma:internalName="TaxCatchAll" ma:showField="CatchAllData" ma:web="623cdf4a-04ac-4d73-973d-139d83555a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10DE1B8-2AD4-461E-8AC1-5299FDE7D46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2577E9-3163-4DE3-9363-C0CF069767AC}">
  <ds:schemaRefs>
    <ds:schemaRef ds:uri="http://schemas.microsoft.com/office/2006/metadata/properties"/>
    <ds:schemaRef ds:uri="http://schemas.microsoft.com/office/infopath/2007/PartnerControls"/>
    <ds:schemaRef ds:uri="734fee40-c2bd-4ad8-886f-a4bb98bf28cf"/>
    <ds:schemaRef ds:uri="3bf6d2de-cfb7-466c-825b-051a8e3c8b7d"/>
  </ds:schemaRefs>
</ds:datastoreItem>
</file>

<file path=customXml/itemProps3.xml><?xml version="1.0" encoding="utf-8"?>
<ds:datastoreItem xmlns:ds="http://schemas.openxmlformats.org/officeDocument/2006/customXml" ds:itemID="{4AF06065-8D56-428E-B43B-D9C1FA4B6C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4fee40-c2bd-4ad8-886f-a4bb98bf28cf"/>
    <ds:schemaRef ds:uri="3bf6d2de-cfb7-466c-825b-051a8e3c8b7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11877</TotalTime>
  <Words>580</Words>
  <Application>Microsoft Macintosh PowerPoint</Application>
  <PresentationFormat>宽屏</PresentationFormat>
  <Paragraphs>54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8" baseType="lpstr">
      <vt:lpstr>华文楷体</vt:lpstr>
      <vt:lpstr>隶书</vt:lpstr>
      <vt:lpstr>宋体</vt:lpstr>
      <vt:lpstr>Arial</vt:lpstr>
      <vt:lpstr>Calibri</vt:lpstr>
      <vt:lpstr>Calibri Light</vt:lpstr>
      <vt:lpstr>Franklin Gothic Book</vt:lpstr>
      <vt:lpstr>Franklin Gothic Medium</vt:lpstr>
      <vt:lpstr>Times</vt:lpstr>
      <vt:lpstr>Wingdings</vt:lpstr>
      <vt:lpstr>Blank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>MUFC</Company>
  <LinksUpToDate>false</LinksUpToDate>
  <SharedDoc>false</SharedDoc>
  <HyperlinkBase/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Heading style for title slide</dc:title>
  <dc:subject/>
  <dc:creator>Eric</dc:creator>
  <cp:keywords/>
  <dc:description/>
  <cp:lastModifiedBy>Bruce Microsoft Office User</cp:lastModifiedBy>
  <cp:revision>330</cp:revision>
  <cp:lastPrinted>2026-03-14T16:00:42Z</cp:lastPrinted>
  <dcterms:created xsi:type="dcterms:W3CDTF">2005-05-25T16:21:13Z</dcterms:created>
  <dcterms:modified xsi:type="dcterms:W3CDTF">2026-03-14T16:08:50Z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0x010100ADD25F28A7B8C5478463198C953CEF3D</vt:lpwstr>
  </property>
</Properties>
</file>